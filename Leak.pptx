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098145-5D53-FB11-BEF5-FA5835806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7406FB-7717-EA1D-39B2-A16BC46AE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63ED89-BCC3-230B-9E02-28ED5FA2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447F8-E22B-4B58-BDE0-489D01EC8B2B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D8D5A3-C77D-82B1-15C2-5F159A569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3D3D71-91AF-38E8-1252-B845AFB31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B294-4A09-4310-BC06-F636751C30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596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1EEFBD-64D8-F116-0F05-0F81262C7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3FAB95-090E-9E6B-3CFA-6531181A3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7AD5C9-B0FD-C20F-4EBB-A01764F18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447F8-E22B-4B58-BDE0-489D01EC8B2B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58D103-702E-39D0-9E95-A06FE1519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C9CF32-D2E5-F50A-CFF4-C6FABA604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B294-4A09-4310-BC06-F636751C30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466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4C3A0B-DBF5-D94B-A34A-3C775AD50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C9ADEB-6DDE-71A7-E6DD-80DF8F261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E5D52B-B7D4-77F8-29AB-EFBC3EBEE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447F8-E22B-4B58-BDE0-489D01EC8B2B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A5E78E-7D10-BDA1-B6F5-13F6869F6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78CBF8-2186-31D4-5813-E819C9162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B294-4A09-4310-BC06-F636751C30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11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1D5F74-8BFD-8AE3-8430-C257FB406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BD3019-1C07-78BC-B5F9-058AC431D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6472D5-0EA8-248D-3190-B221A9C84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FACE37-2021-E6AA-B291-FAF1504F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447F8-E22B-4B58-BDE0-489D01EC8B2B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68BA88-14AA-575A-D598-26052DDA5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1A7E0F-6E1F-DC13-2882-853DE038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B294-4A09-4310-BC06-F636751C30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958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B9B870-1E3A-70F7-E67C-DF51C2D3A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2C442B-2536-A911-165E-BC7E2F2A5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938E4C-4938-CE4D-A94C-B57FEE153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67F30BE-43CC-F306-89FD-BC5821311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657830-52AA-F73C-9CF6-4B6120E1B2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A525D90-CD08-82B5-433D-F5809E639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447F8-E22B-4B58-BDE0-489D01EC8B2B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DC1BE6-7B2E-4333-2B3A-ACAC36555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386D8E-A1A5-6733-E096-3E7E336A8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B294-4A09-4310-BC06-F636751C30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7560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E4022-BA68-B156-DD5C-E0DF47987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EAD422B-F97C-C79D-1F04-169BAA1BD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447F8-E22B-4B58-BDE0-489D01EC8B2B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3C0230-BF18-3622-13E2-4326FD18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98A462-8C07-1E2C-7B8C-396C2790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B294-4A09-4310-BC06-F636751C30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40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F27026-7C5B-260E-4A1C-30E2A044E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447F8-E22B-4B58-BDE0-489D01EC8B2B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94B2FE6-EE56-0840-121A-DA4E400FA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B68D73-40F3-09CD-C74B-649D86CD6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B294-4A09-4310-BC06-F636751C30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559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18652-A8DC-59D9-BDEB-85B91CD70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E575E0-E8F6-0930-5684-8C2C7B7BC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0E0E27-0242-CE5D-CA20-F46C0086E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6EEACC-C776-0D69-9FE0-2268526CD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447F8-E22B-4B58-BDE0-489D01EC8B2B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DBB0E7-7192-0408-677C-44CDB320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A3C10C-097D-066C-E930-18E841E7B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B294-4A09-4310-BC06-F636751C30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145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660B2-2D47-19D4-491D-4915E37D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966740-CE76-070A-0F18-CBE0392012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0205E7-743F-CF3E-B4C6-6AB921EE0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D24DEB-1D47-5328-094C-F7E4EE72E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447F8-E22B-4B58-BDE0-489D01EC8B2B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DCD13F-F14C-0AF7-43D9-942777BC5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E8540D-B3FC-923F-DAFC-D8E4A92F6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B294-4A09-4310-BC06-F636751C30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586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C3B5B-CE8E-C791-41F6-020175FB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2CA2FB-34C0-70A2-49BA-048A8DF1C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FA0F5A-46E0-4388-C941-63747DD7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447F8-E22B-4B58-BDE0-489D01EC8B2B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48F90D-4D19-B0EF-DC5A-72BE6529F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353A68-00BB-4C96-ED49-E0E0B2A40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B294-4A09-4310-BC06-F636751C30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230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3C1753A-2470-0418-A327-460112DE4D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03A7F3-F29A-AC17-60BD-C13C49596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FDF605-6DED-A635-D183-D7D5B2FF4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447F8-E22B-4B58-BDE0-489D01EC8B2B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DCEC9F-39ED-CCE0-695B-4024DE3A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24CDBB-812D-BAF9-DC0B-00ECA7C57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0B294-4A09-4310-BC06-F636751C30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45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A397EF-A59F-ADFA-D6BA-8C637D46E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B0F9A8-3E7F-48C5-2A64-BC19003E6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1C9A17-15C5-545F-D05C-F6E984021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447F8-E22B-4B58-BDE0-489D01EC8B2B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A6A863-3B23-868A-CB5F-ACEEDF178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65EF01-806C-7491-2AF6-5F9F5E70B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0B294-4A09-4310-BC06-F636751C30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390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34" y="431800"/>
            <a:ext cx="11269133" cy="619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0" y="4334934"/>
            <a:ext cx="7874000" cy="448733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152400"/>
            <a:ext cx="127000" cy="41486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667" y="152400"/>
            <a:ext cx="127000" cy="414867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133" y="152400"/>
            <a:ext cx="127000" cy="414867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600" y="152400"/>
            <a:ext cx="127000" cy="41486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067" y="152400"/>
            <a:ext cx="127000" cy="414867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933" y="152400"/>
            <a:ext cx="127000" cy="414867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400" y="152400"/>
            <a:ext cx="127000" cy="414867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867" y="152400"/>
            <a:ext cx="127000" cy="414867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6333" y="152400"/>
            <a:ext cx="127000" cy="414867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152400"/>
            <a:ext cx="127000" cy="414867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243667" y="4461933"/>
            <a:ext cx="7704667" cy="2116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1600" dirty="0">
                <a:solidFill>
                  <a:srgbClr val="373737"/>
                </a:solidFill>
                <a:latin typeface="Noto Sans CJK KR DemiLight"/>
                <a:ea typeface="Noto Sans CJK KR DemiLight"/>
              </a:rPr>
              <a:t>2021145013 </a:t>
            </a:r>
            <a:r>
              <a:rPr lang="ko-KR" altLang="en-US" sz="1600" dirty="0">
                <a:solidFill>
                  <a:srgbClr val="373737"/>
                </a:solidFill>
                <a:latin typeface="Noto Sans CJK KR DemiLight"/>
                <a:ea typeface="Noto Sans CJK KR DemiLight"/>
              </a:rPr>
              <a:t>김민성</a:t>
            </a:r>
            <a:endParaRPr lang="en-US" sz="1600" dirty="0">
              <a:solidFill>
                <a:srgbClr val="373737"/>
              </a:solidFill>
              <a:latin typeface="Noto Sans CJK KR DemiLigh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17134" y="2209800"/>
            <a:ext cx="8957733" cy="207433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altLang="en-US" sz="6067" dirty="0" err="1">
                <a:solidFill>
                  <a:srgbClr val="90A4A5"/>
                </a:solidFill>
                <a:ea typeface="paybooc Medium"/>
              </a:rPr>
              <a:t>누진수</a:t>
            </a:r>
            <a:r>
              <a:rPr lang="ko-KR" altLang="en-US" sz="6067" dirty="0">
                <a:solidFill>
                  <a:srgbClr val="90A4A5"/>
                </a:solidFill>
                <a:ea typeface="paybooc Medium"/>
              </a:rPr>
              <a:t> 앱</a:t>
            </a:r>
            <a:endParaRPr lang="en-US" altLang="ko-KR" sz="6067" dirty="0">
              <a:solidFill>
                <a:srgbClr val="90A4A5"/>
              </a:solidFill>
              <a:ea typeface="paybooc Medium"/>
            </a:endParaRPr>
          </a:p>
          <a:p>
            <a:pPr lvl="0" algn="ctr">
              <a:lnSpc>
                <a:spcPct val="107899"/>
              </a:lnSpc>
            </a:pPr>
            <a:endParaRPr lang="ko-KR" altLang="en-US" sz="6067" dirty="0">
              <a:solidFill>
                <a:srgbClr val="90A4A5"/>
              </a:solidFill>
              <a:ea typeface="paybooc Mediu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600200" y="499533"/>
            <a:ext cx="8991600" cy="2116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1200" spc="133" dirty="0">
                <a:solidFill>
                  <a:srgbClr val="FFFFFF"/>
                </a:solidFill>
                <a:latin typeface="paybooc Bold"/>
              </a:rPr>
              <a:t>안드로이드 프로그래밍</a:t>
            </a:r>
            <a:endParaRPr lang="en-US" sz="1200" spc="133" dirty="0">
              <a:solidFill>
                <a:srgbClr val="FFFFFF"/>
              </a:solidFill>
              <a:latin typeface="paybooc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359833"/>
            <a:ext cx="11260667" cy="619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67" y="965200"/>
            <a:ext cx="10354733" cy="694267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152400"/>
            <a:ext cx="127000" cy="414867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667" y="152400"/>
            <a:ext cx="127000" cy="41486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133" y="152400"/>
            <a:ext cx="127000" cy="41486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600" y="152400"/>
            <a:ext cx="127000" cy="414867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067" y="152400"/>
            <a:ext cx="127000" cy="414867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933" y="152400"/>
            <a:ext cx="127000" cy="414867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400" y="152400"/>
            <a:ext cx="127000" cy="414867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867" y="152400"/>
            <a:ext cx="127000" cy="414867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6333" y="152400"/>
            <a:ext cx="127000" cy="414867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152400"/>
            <a:ext cx="127000" cy="414867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922867" y="2057400"/>
            <a:ext cx="9939867" cy="360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41100"/>
              </a:lnSpc>
            </a:pPr>
            <a:r>
              <a:rPr lang="ko-KR" altLang="en-US" sz="2133" b="1" spc="-67" dirty="0">
                <a:latin typeface="Noto Sans CJK KR DemiLight"/>
              </a:rPr>
              <a:t>소개</a:t>
            </a:r>
            <a:r>
              <a:rPr lang="en-US" altLang="ko-KR" sz="2133" b="1" spc="-67" dirty="0">
                <a:latin typeface="Noto Sans CJK KR DemiLight"/>
              </a:rPr>
              <a:t>-</a:t>
            </a:r>
          </a:p>
          <a:p>
            <a:pPr marL="342900" indent="-342900">
              <a:lnSpc>
                <a:spcPct val="141100"/>
              </a:lnSpc>
              <a:buFont typeface="Arial" panose="020B0604020202020204" pitchFamily="34" charset="0"/>
              <a:buChar char="•"/>
            </a:pPr>
            <a:r>
              <a:rPr lang="ko-KR" altLang="en-US" sz="2133" spc="-67" dirty="0">
                <a:solidFill>
                  <a:srgbClr val="373737"/>
                </a:solidFill>
                <a:latin typeface="Noto Sans CJK KR DemiLight"/>
              </a:rPr>
              <a:t>자취생을 위한 누수 진단 보조 안드로이드 앱</a:t>
            </a:r>
            <a:endParaRPr lang="en-US" altLang="ko-KR" sz="2133" spc="-67" dirty="0">
              <a:solidFill>
                <a:srgbClr val="373737"/>
              </a:solidFill>
              <a:latin typeface="Noto Sans CJK KR DemiLight"/>
            </a:endParaRPr>
          </a:p>
          <a:p>
            <a:pPr marL="342900" indent="-342900">
              <a:lnSpc>
                <a:spcPct val="141100"/>
              </a:lnSpc>
              <a:buFont typeface="Arial" panose="020B0604020202020204" pitchFamily="34" charset="0"/>
              <a:buChar char="•"/>
            </a:pPr>
            <a:r>
              <a:rPr lang="ko-KR" altLang="en-US" sz="2133" spc="-67" dirty="0">
                <a:solidFill>
                  <a:srgbClr val="373737"/>
                </a:solidFill>
                <a:latin typeface="Noto Sans CJK KR DemiLight"/>
              </a:rPr>
              <a:t>누수의심 상황을 사진과 </a:t>
            </a:r>
            <a:r>
              <a:rPr lang="en-US" altLang="ko-KR" sz="2133" spc="-67" dirty="0">
                <a:solidFill>
                  <a:srgbClr val="373737"/>
                </a:solidFill>
                <a:latin typeface="Noto Sans CJK KR DemiLight"/>
              </a:rPr>
              <a:t>ai </a:t>
            </a:r>
            <a:r>
              <a:rPr lang="ko-KR" altLang="en-US" sz="2133" spc="-67" dirty="0">
                <a:solidFill>
                  <a:srgbClr val="373737"/>
                </a:solidFill>
                <a:latin typeface="Noto Sans CJK KR DemiLight"/>
              </a:rPr>
              <a:t>로 분석</a:t>
            </a:r>
            <a:endParaRPr lang="en-US" altLang="ko-KR" sz="2133" spc="-67" dirty="0">
              <a:solidFill>
                <a:srgbClr val="373737"/>
              </a:solidFill>
              <a:latin typeface="Noto Sans CJK KR DemiLight"/>
            </a:endParaRPr>
          </a:p>
          <a:p>
            <a:pPr marL="342900" indent="-342900">
              <a:lnSpc>
                <a:spcPct val="141100"/>
              </a:lnSpc>
              <a:buFont typeface="Arial" panose="020B0604020202020204" pitchFamily="34" charset="0"/>
              <a:buChar char="•"/>
            </a:pPr>
            <a:r>
              <a:rPr lang="ko-KR" altLang="en-US" sz="2133" spc="-67" dirty="0">
                <a:solidFill>
                  <a:srgbClr val="373737"/>
                </a:solidFill>
                <a:latin typeface="Noto Sans CJK KR DemiLight"/>
              </a:rPr>
              <a:t>진단 결과를 기록하고  집주인에게 전달할 문구까지 자동생성</a:t>
            </a:r>
            <a:r>
              <a:rPr lang="en-US" altLang="ko-KR" sz="2133" spc="-67" dirty="0">
                <a:solidFill>
                  <a:srgbClr val="373737"/>
                </a:solidFill>
                <a:latin typeface="Noto Sans CJK KR DemiLight"/>
              </a:rPr>
              <a:t>.</a:t>
            </a:r>
          </a:p>
          <a:p>
            <a:r>
              <a:rPr lang="ko-KR" altLang="en-US" sz="2400" b="1" dirty="0"/>
              <a:t>개발 목적</a:t>
            </a:r>
            <a:endParaRPr lang="en-US" altLang="ko-KR" sz="2400" b="1" dirty="0"/>
          </a:p>
          <a:p>
            <a:endParaRPr lang="ko-KR" alt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자취생의 누수 관련 </a:t>
            </a:r>
            <a:r>
              <a:rPr lang="ko-KR" altLang="en-US" sz="2400" b="1" dirty="0"/>
              <a:t>의사소통 부담 감소</a:t>
            </a:r>
            <a:endParaRPr lang="ko-KR" alt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AI </a:t>
            </a:r>
            <a:r>
              <a:rPr lang="ko-KR" altLang="en-US" sz="2400" dirty="0"/>
              <a:t>기술을 활용한 실생활 문제 해결</a:t>
            </a:r>
          </a:p>
          <a:p>
            <a:pPr>
              <a:lnSpc>
                <a:spcPct val="141100"/>
              </a:lnSpc>
            </a:pPr>
            <a:r>
              <a:rPr lang="ko-KR" altLang="en-US" sz="2133" spc="-67" dirty="0">
                <a:solidFill>
                  <a:srgbClr val="373737"/>
                </a:solidFill>
                <a:latin typeface="Noto Sans CJK KR DemiLight"/>
              </a:rPr>
              <a:t> </a:t>
            </a:r>
            <a:endParaRPr lang="en-US" altLang="ko-KR" sz="2133" spc="-67" dirty="0">
              <a:solidFill>
                <a:srgbClr val="373737"/>
              </a:solidFill>
              <a:latin typeface="Noto Sans CJK KR DemiLigh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463800" y="1058333"/>
            <a:ext cx="7857067" cy="5672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200" dirty="0">
                <a:solidFill>
                  <a:srgbClr val="373737"/>
                </a:solidFill>
                <a:ea typeface="paybooc Bold"/>
              </a:rPr>
              <a:t>프로젝트 개요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1400" y="1092200"/>
            <a:ext cx="524933" cy="44873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33" dirty="0">
                <a:solidFill>
                  <a:srgbClr val="FFFFFF"/>
                </a:solidFill>
                <a:latin typeface="paybooc Extra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12F35-C5D2-10E1-2143-32D69A78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9C86A9C-7F9F-C40B-457C-335860504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359833"/>
            <a:ext cx="11260667" cy="6197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16A0D6E-08FE-4494-4572-9CFEA16EF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67" y="965200"/>
            <a:ext cx="10354733" cy="694267"/>
          </a:xfrm>
          <a:prstGeom prst="rect">
            <a:avLst/>
          </a:prstGeom>
        </p:spPr>
      </p:pic>
      <p:grpSp>
        <p:nvGrpSpPr>
          <p:cNvPr id="6" name="Group 6">
            <a:extLst>
              <a:ext uri="{FF2B5EF4-FFF2-40B4-BE49-F238E27FC236}">
                <a16:creationId xmlns:a16="http://schemas.microsoft.com/office/drawing/2014/main" id="{EC8F43C7-B1B4-AEA1-EE90-683B058193DD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7" name="Picture 7">
            <a:extLst>
              <a:ext uri="{FF2B5EF4-FFF2-40B4-BE49-F238E27FC236}">
                <a16:creationId xmlns:a16="http://schemas.microsoft.com/office/drawing/2014/main" id="{446DABA4-7F88-366D-C117-7AD0BDA24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152400"/>
            <a:ext cx="127000" cy="414867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653E1F03-16A2-94BC-ECE3-793979473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667" y="152400"/>
            <a:ext cx="127000" cy="41486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EC62B82D-FFB7-091D-17E3-7E68A200A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133" y="152400"/>
            <a:ext cx="127000" cy="414867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8A8A044E-AFD6-D497-6372-6AAF0A3E2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600" y="152400"/>
            <a:ext cx="127000" cy="414867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8AAD696B-20EA-619B-9CB0-D69D06BCB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067" y="152400"/>
            <a:ext cx="127000" cy="414867"/>
          </a:xfrm>
          <a:prstGeom prst="rect">
            <a:avLst/>
          </a:prstGeom>
        </p:spPr>
      </p:pic>
      <p:grpSp>
        <p:nvGrpSpPr>
          <p:cNvPr id="12" name="Group 12">
            <a:extLst>
              <a:ext uri="{FF2B5EF4-FFF2-40B4-BE49-F238E27FC236}">
                <a16:creationId xmlns:a16="http://schemas.microsoft.com/office/drawing/2014/main" id="{2D017CC6-96AF-1E2B-6B01-99AF182AE9ED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3" name="Picture 13">
            <a:extLst>
              <a:ext uri="{FF2B5EF4-FFF2-40B4-BE49-F238E27FC236}">
                <a16:creationId xmlns:a16="http://schemas.microsoft.com/office/drawing/2014/main" id="{3B01C730-B418-3C96-B891-B0F801C8C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933" y="152400"/>
            <a:ext cx="127000" cy="414867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31A634A2-405D-F002-859F-5153F42A4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400" y="152400"/>
            <a:ext cx="127000" cy="414867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14471903-CC70-BAAC-4C1D-FA8CBADF2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867" y="152400"/>
            <a:ext cx="127000" cy="414867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10E00E0C-F4C8-BB22-F640-2B940270E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6333" y="152400"/>
            <a:ext cx="127000" cy="414867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5BE381B9-BB1C-EDC7-F023-23ED78E68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152400"/>
            <a:ext cx="127000" cy="414867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C9BD07CC-472C-8010-4FCE-70C5157F9C56}"/>
              </a:ext>
            </a:extLst>
          </p:cNvPr>
          <p:cNvSpPr txBox="1"/>
          <p:nvPr/>
        </p:nvSpPr>
        <p:spPr>
          <a:xfrm>
            <a:off x="922867" y="2057400"/>
            <a:ext cx="9939867" cy="360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기술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/>
              <a:t>Google ML Kit Image Labeling (On-device AI)</a:t>
            </a:r>
            <a:r>
              <a:rPr lang="en-US" altLang="ko-KR" sz="2400" dirty="0"/>
              <a:t> </a:t>
            </a:r>
            <a:r>
              <a:rPr lang="ko-KR" altLang="en-US" sz="2400" dirty="0"/>
              <a:t>사용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r>
              <a:rPr lang="ko-KR" altLang="en-US" sz="2400" b="1" dirty="0"/>
              <a:t>활용 방법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누수 사진을 분석하여 물</a:t>
            </a:r>
            <a:r>
              <a:rPr lang="en-US" altLang="ko-KR" sz="2400" dirty="0"/>
              <a:t>, </a:t>
            </a:r>
            <a:r>
              <a:rPr lang="ko-KR" altLang="en-US" sz="2400" dirty="0"/>
              <a:t>얼룩</a:t>
            </a:r>
            <a:r>
              <a:rPr lang="en-US" altLang="ko-KR" sz="2400" dirty="0"/>
              <a:t>, </a:t>
            </a:r>
            <a:r>
              <a:rPr lang="ko-KR" altLang="en-US" sz="2400" dirty="0"/>
              <a:t>곰팡이 등 키워드 인식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인식 결과를 기반으로 자체 점수 로직 적용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누수 가능성을 **퍼센트</a:t>
            </a:r>
            <a:r>
              <a:rPr lang="en-US" altLang="ko-KR" sz="2400" dirty="0"/>
              <a:t>(%)**</a:t>
            </a:r>
            <a:r>
              <a:rPr lang="ko-KR" altLang="en-US" sz="2400" dirty="0"/>
              <a:t>로 계산하여 사용자에게 제공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sz="2400" dirty="0"/>
          </a:p>
          <a:p>
            <a:pPr>
              <a:lnSpc>
                <a:spcPct val="141100"/>
              </a:lnSpc>
            </a:pPr>
            <a:endParaRPr lang="en-US" altLang="ko-KR" sz="2133" spc="-67" dirty="0">
              <a:solidFill>
                <a:srgbClr val="373737"/>
              </a:solidFill>
              <a:latin typeface="Noto Sans CJK KR DemiLight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9B5A9CD-F403-1867-7C5D-BD07042E167D}"/>
              </a:ext>
            </a:extLst>
          </p:cNvPr>
          <p:cNvSpPr txBox="1"/>
          <p:nvPr/>
        </p:nvSpPr>
        <p:spPr>
          <a:xfrm>
            <a:off x="2463800" y="1058333"/>
            <a:ext cx="7857067" cy="5672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3200" dirty="0">
                <a:solidFill>
                  <a:srgbClr val="373737"/>
                </a:solidFill>
                <a:ea typeface="paybooc Bold"/>
              </a:rPr>
              <a:t>AI </a:t>
            </a:r>
            <a:r>
              <a:rPr lang="ko-KR" altLang="en-US" sz="3200" dirty="0">
                <a:solidFill>
                  <a:srgbClr val="373737"/>
                </a:solidFill>
                <a:ea typeface="paybooc Bold"/>
              </a:rPr>
              <a:t>활용 방식</a:t>
            </a:r>
            <a:r>
              <a:rPr lang="en-US" altLang="ko-KR" sz="3200" dirty="0">
                <a:solidFill>
                  <a:srgbClr val="373737"/>
                </a:solidFill>
                <a:ea typeface="paybooc Bold"/>
              </a:rPr>
              <a:t>.</a:t>
            </a:r>
            <a:endParaRPr lang="ko-KR" altLang="en-US" sz="3200" dirty="0">
              <a:solidFill>
                <a:srgbClr val="373737"/>
              </a:solidFill>
              <a:ea typeface="paybooc 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9A51039-E278-6BB0-3255-99B83BD697EA}"/>
              </a:ext>
            </a:extLst>
          </p:cNvPr>
          <p:cNvSpPr txBox="1"/>
          <p:nvPr/>
        </p:nvSpPr>
        <p:spPr>
          <a:xfrm>
            <a:off x="1041400" y="1092200"/>
            <a:ext cx="524933" cy="44873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33" dirty="0">
                <a:solidFill>
                  <a:srgbClr val="FFFFFF"/>
                </a:solidFill>
                <a:latin typeface="paybooc ExtraBold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92736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6F99C-2149-FED7-560C-BA2DDEFE7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00B65AF-3BBD-77F2-6F4A-FF5F99550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359833"/>
            <a:ext cx="11260667" cy="6197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4372C66-77CD-E278-6160-302954A01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67" y="965200"/>
            <a:ext cx="10354733" cy="694267"/>
          </a:xfrm>
          <a:prstGeom prst="rect">
            <a:avLst/>
          </a:prstGeom>
        </p:spPr>
      </p:pic>
      <p:grpSp>
        <p:nvGrpSpPr>
          <p:cNvPr id="6" name="Group 6">
            <a:extLst>
              <a:ext uri="{FF2B5EF4-FFF2-40B4-BE49-F238E27FC236}">
                <a16:creationId xmlns:a16="http://schemas.microsoft.com/office/drawing/2014/main" id="{9E236750-9A95-43F1-89C1-E700E0EB33EB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7" name="Picture 7">
            <a:extLst>
              <a:ext uri="{FF2B5EF4-FFF2-40B4-BE49-F238E27FC236}">
                <a16:creationId xmlns:a16="http://schemas.microsoft.com/office/drawing/2014/main" id="{90217F95-8A8B-98A7-7A06-B8869AD8A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152400"/>
            <a:ext cx="127000" cy="414867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723BEAAD-8661-D135-B18C-265197BF7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667" y="152400"/>
            <a:ext cx="127000" cy="41486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EA5110D7-C732-01F3-1CBC-377A8B470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133" y="152400"/>
            <a:ext cx="127000" cy="414867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89691E43-CD42-4184-3DDE-F9385ACFD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600" y="152400"/>
            <a:ext cx="127000" cy="414867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A03D7743-10A0-0448-1F2F-807DD5EAB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067" y="152400"/>
            <a:ext cx="127000" cy="414867"/>
          </a:xfrm>
          <a:prstGeom prst="rect">
            <a:avLst/>
          </a:prstGeom>
        </p:spPr>
      </p:pic>
      <p:grpSp>
        <p:nvGrpSpPr>
          <p:cNvPr id="12" name="Group 12">
            <a:extLst>
              <a:ext uri="{FF2B5EF4-FFF2-40B4-BE49-F238E27FC236}">
                <a16:creationId xmlns:a16="http://schemas.microsoft.com/office/drawing/2014/main" id="{E48FCFA7-0A81-E0DA-563E-A4CD7FDD74E7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3" name="Picture 13">
            <a:extLst>
              <a:ext uri="{FF2B5EF4-FFF2-40B4-BE49-F238E27FC236}">
                <a16:creationId xmlns:a16="http://schemas.microsoft.com/office/drawing/2014/main" id="{CFA60BCB-39F4-70C4-6841-18F04AA574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933" y="152400"/>
            <a:ext cx="127000" cy="414867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4000BAEF-B4D6-2482-B3EA-9FF3C9AAA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400" y="152400"/>
            <a:ext cx="127000" cy="414867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5545A3F3-D5F4-1433-8665-D8CC6C4CE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867" y="152400"/>
            <a:ext cx="127000" cy="414867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30AE6029-948C-8E7C-FB5F-9D2E668AF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6333" y="152400"/>
            <a:ext cx="127000" cy="414867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B3E68633-0F7F-B41A-2FC0-4FAFE74BD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152400"/>
            <a:ext cx="127000" cy="414867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8EBDC292-88BB-5997-6869-ED84BA1091D4}"/>
              </a:ext>
            </a:extLst>
          </p:cNvPr>
          <p:cNvSpPr txBox="1"/>
          <p:nvPr/>
        </p:nvSpPr>
        <p:spPr>
          <a:xfrm>
            <a:off x="922867" y="2057400"/>
            <a:ext cx="9939867" cy="360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en-US" altLang="ko-KR" sz="2133" spc="-67" dirty="0">
                <a:solidFill>
                  <a:srgbClr val="373737"/>
                </a:solidFill>
                <a:latin typeface="Noto Sans CJK KR DemiLight"/>
              </a:rPr>
              <a:t> </a:t>
            </a:r>
            <a:r>
              <a:rPr lang="en-US" altLang="ko-KR" sz="2400" b="1" dirty="0"/>
              <a:t>1. </a:t>
            </a:r>
            <a:r>
              <a:rPr lang="ko-KR" altLang="en-US" sz="2400" b="1" dirty="0"/>
              <a:t>사진 기반 누수 분석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사진 선택 → </a:t>
            </a:r>
            <a:r>
              <a:rPr lang="en-US" altLang="ko-KR" sz="2400" dirty="0"/>
              <a:t>AI </a:t>
            </a:r>
            <a:r>
              <a:rPr lang="ko-KR" altLang="en-US" sz="2400" dirty="0"/>
              <a:t>분석 → 누수 가능성 출력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sz="2400" dirty="0"/>
          </a:p>
          <a:p>
            <a:r>
              <a:rPr lang="en-US" altLang="ko-KR" sz="2400" b="1" dirty="0"/>
              <a:t>2. </a:t>
            </a:r>
            <a:r>
              <a:rPr lang="ko-KR" altLang="en-US" sz="2400" b="1" dirty="0"/>
              <a:t>누수 기록 관리</a:t>
            </a:r>
            <a:endParaRPr lang="en-US" altLang="ko-KR" sz="2400" b="1" dirty="0"/>
          </a:p>
          <a:p>
            <a:endParaRPr lang="ko-KR" alt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사진</a:t>
            </a:r>
            <a:r>
              <a:rPr lang="en-US" altLang="ko-KR" sz="2400" dirty="0"/>
              <a:t>, </a:t>
            </a:r>
            <a:r>
              <a:rPr lang="ko-KR" altLang="en-US" sz="2400" dirty="0"/>
              <a:t>메모</a:t>
            </a:r>
            <a:r>
              <a:rPr lang="en-US" altLang="ko-KR" sz="2400" dirty="0"/>
              <a:t>, AI </a:t>
            </a:r>
            <a:r>
              <a:rPr lang="ko-KR" altLang="en-US" sz="2400" dirty="0"/>
              <a:t>결과를 함께 저장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기록 목록 조회 및 삭제 가능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sz="2400" dirty="0"/>
          </a:p>
          <a:p>
            <a:r>
              <a:rPr lang="en-US" altLang="ko-KR" sz="2400" b="1" dirty="0"/>
              <a:t>3. </a:t>
            </a:r>
            <a:r>
              <a:rPr lang="ko-KR" altLang="en-US" sz="2400" b="1" dirty="0"/>
              <a:t>집주인 신고 문구 생성</a:t>
            </a:r>
            <a:endParaRPr lang="en-US" altLang="ko-KR" sz="2400" b="1" dirty="0"/>
          </a:p>
          <a:p>
            <a:endParaRPr lang="ko-KR" alt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입력 정보 기반 자동 문구 생성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클립보드 복사 기능 제공</a:t>
            </a:r>
          </a:p>
          <a:p>
            <a:pPr>
              <a:lnSpc>
                <a:spcPct val="141100"/>
              </a:lnSpc>
            </a:pPr>
            <a:endParaRPr lang="en-US" altLang="ko-KR" sz="2133" spc="-67" dirty="0">
              <a:solidFill>
                <a:srgbClr val="373737"/>
              </a:solidFill>
              <a:latin typeface="Noto Sans CJK KR DemiLight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3390778-1AA2-B428-2B31-CC5405957E7A}"/>
              </a:ext>
            </a:extLst>
          </p:cNvPr>
          <p:cNvSpPr txBox="1"/>
          <p:nvPr/>
        </p:nvSpPr>
        <p:spPr>
          <a:xfrm>
            <a:off x="2463800" y="1058333"/>
            <a:ext cx="7857067" cy="5672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200" dirty="0">
                <a:solidFill>
                  <a:srgbClr val="373737"/>
                </a:solidFill>
                <a:ea typeface="paybooc Bold"/>
              </a:rPr>
              <a:t>주요 기능</a:t>
            </a:r>
            <a:r>
              <a:rPr lang="en-US" altLang="ko-KR" sz="3200" dirty="0">
                <a:solidFill>
                  <a:srgbClr val="373737"/>
                </a:solidFill>
                <a:ea typeface="paybooc Bold"/>
              </a:rPr>
              <a:t>.</a:t>
            </a:r>
            <a:endParaRPr lang="ko-KR" altLang="en-US" sz="3200" dirty="0">
              <a:solidFill>
                <a:srgbClr val="373737"/>
              </a:solidFill>
              <a:ea typeface="paybooc 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65201D4-E2B8-B0F4-4BB7-77758DBC224A}"/>
              </a:ext>
            </a:extLst>
          </p:cNvPr>
          <p:cNvSpPr txBox="1"/>
          <p:nvPr/>
        </p:nvSpPr>
        <p:spPr>
          <a:xfrm>
            <a:off x="1041400" y="1092200"/>
            <a:ext cx="524933" cy="44873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33" dirty="0">
                <a:solidFill>
                  <a:srgbClr val="FFFFFF"/>
                </a:solidFill>
                <a:latin typeface="paybooc ExtraBold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93257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09E27-0021-B1EB-C54D-6DDE2C7B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56FBD71-6ECD-F46F-CA93-EF3B603AA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359833"/>
            <a:ext cx="11260667" cy="6197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156889A-CE37-2A60-8BEB-127119D4E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67" y="965200"/>
            <a:ext cx="10354733" cy="694267"/>
          </a:xfrm>
          <a:prstGeom prst="rect">
            <a:avLst/>
          </a:prstGeom>
        </p:spPr>
      </p:pic>
      <p:grpSp>
        <p:nvGrpSpPr>
          <p:cNvPr id="6" name="Group 6">
            <a:extLst>
              <a:ext uri="{FF2B5EF4-FFF2-40B4-BE49-F238E27FC236}">
                <a16:creationId xmlns:a16="http://schemas.microsoft.com/office/drawing/2014/main" id="{04F20DBB-6D2B-4537-101E-1A134520434D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7" name="Picture 7">
            <a:extLst>
              <a:ext uri="{FF2B5EF4-FFF2-40B4-BE49-F238E27FC236}">
                <a16:creationId xmlns:a16="http://schemas.microsoft.com/office/drawing/2014/main" id="{11A24EC7-A203-11E5-AD3D-E314533BB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152400"/>
            <a:ext cx="127000" cy="414867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1D2AB806-4D37-FEE3-7D7E-A6A466316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667" y="152400"/>
            <a:ext cx="127000" cy="41486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D755E2C3-5AE0-52EE-5BF7-F82D0E9F8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133" y="152400"/>
            <a:ext cx="127000" cy="414867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5694B8B1-6324-B521-7F82-257EC6C56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600" y="152400"/>
            <a:ext cx="127000" cy="414867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0DC3848E-277C-9EA0-35AF-2CD0A77B6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067" y="152400"/>
            <a:ext cx="127000" cy="414867"/>
          </a:xfrm>
          <a:prstGeom prst="rect">
            <a:avLst/>
          </a:prstGeom>
        </p:spPr>
      </p:pic>
      <p:grpSp>
        <p:nvGrpSpPr>
          <p:cNvPr id="12" name="Group 12">
            <a:extLst>
              <a:ext uri="{FF2B5EF4-FFF2-40B4-BE49-F238E27FC236}">
                <a16:creationId xmlns:a16="http://schemas.microsoft.com/office/drawing/2014/main" id="{3C6DEBBE-7720-7C77-BBFC-45627CE228CB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3" name="Picture 13">
            <a:extLst>
              <a:ext uri="{FF2B5EF4-FFF2-40B4-BE49-F238E27FC236}">
                <a16:creationId xmlns:a16="http://schemas.microsoft.com/office/drawing/2014/main" id="{193C463A-B740-F398-6BFE-F1BDB3A0E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933" y="152400"/>
            <a:ext cx="127000" cy="414867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E13D8696-95F2-7ED8-4C09-C4AD0FDDE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400" y="152400"/>
            <a:ext cx="127000" cy="414867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242AF536-F348-45AE-A3F9-BB89CB1D1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867" y="152400"/>
            <a:ext cx="127000" cy="414867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6BC2940C-6000-7F90-9625-D9D36DC31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6333" y="152400"/>
            <a:ext cx="127000" cy="414867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CB3AD43D-2242-6715-3BC8-877753629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152400"/>
            <a:ext cx="127000" cy="414867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13EFD263-9327-9C92-9543-27239CCA1831}"/>
              </a:ext>
            </a:extLst>
          </p:cNvPr>
          <p:cNvSpPr txBox="1"/>
          <p:nvPr/>
        </p:nvSpPr>
        <p:spPr>
          <a:xfrm>
            <a:off x="922867" y="2057400"/>
            <a:ext cx="9939867" cy="360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ko-KR" altLang="en-US" sz="2400" b="1" dirty="0"/>
              <a:t>개발 환경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Language: </a:t>
            </a:r>
            <a:r>
              <a:rPr lang="en-US" altLang="ko-KR" sz="2400" b="1" dirty="0"/>
              <a:t>Kotlin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Platform: </a:t>
            </a:r>
            <a:r>
              <a:rPr lang="en-US" altLang="ko-KR" sz="2400" b="1" dirty="0"/>
              <a:t>Android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UI: XML, </a:t>
            </a:r>
            <a:r>
              <a:rPr lang="en-US" altLang="ko-KR" sz="2400" dirty="0" err="1"/>
              <a:t>ConstraintLayout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r>
              <a:rPr lang="ko-KR" altLang="en-US" sz="2400" b="1" dirty="0"/>
              <a:t>주요 라이브러리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AI: </a:t>
            </a:r>
            <a:r>
              <a:rPr lang="en-US" altLang="ko-KR" sz="2400" b="1" dirty="0"/>
              <a:t>Google ML Kit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DB: </a:t>
            </a:r>
            <a:r>
              <a:rPr lang="en-US" altLang="ko-KR" sz="2400" b="1" dirty="0"/>
              <a:t>Room Database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기타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RecyclerView</a:t>
            </a:r>
            <a:r>
              <a:rPr lang="en-US" altLang="ko-KR" sz="2400" dirty="0"/>
              <a:t>, Intent, Clipboard API</a:t>
            </a:r>
          </a:p>
          <a:p>
            <a:pPr>
              <a:lnSpc>
                <a:spcPct val="141100"/>
              </a:lnSpc>
            </a:pPr>
            <a:endParaRPr lang="en-US" altLang="ko-KR" sz="2133" spc="-67" dirty="0">
              <a:solidFill>
                <a:srgbClr val="373737"/>
              </a:solidFill>
              <a:latin typeface="Noto Sans CJK KR DemiLight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8D05932-1938-0558-6975-1836ADECADE6}"/>
              </a:ext>
            </a:extLst>
          </p:cNvPr>
          <p:cNvSpPr txBox="1"/>
          <p:nvPr/>
        </p:nvSpPr>
        <p:spPr>
          <a:xfrm>
            <a:off x="2463800" y="1058333"/>
            <a:ext cx="7857067" cy="5672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200" dirty="0">
                <a:solidFill>
                  <a:srgbClr val="373737"/>
                </a:solidFill>
                <a:ea typeface="paybooc Bold"/>
              </a:rPr>
              <a:t>사용 기술 스택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E935AF0-9E8E-698E-C4EA-52FB489B1BE9}"/>
              </a:ext>
            </a:extLst>
          </p:cNvPr>
          <p:cNvSpPr txBox="1"/>
          <p:nvPr/>
        </p:nvSpPr>
        <p:spPr>
          <a:xfrm>
            <a:off x="1041400" y="1092200"/>
            <a:ext cx="524933" cy="44873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33" dirty="0">
                <a:solidFill>
                  <a:srgbClr val="FFFFFF"/>
                </a:solidFill>
                <a:latin typeface="paybooc ExtraBold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6993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579E8-A946-E9AA-DCC2-696A13413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A1D3EAE-65A2-DA2C-EE16-580C66C7B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359833"/>
            <a:ext cx="11260667" cy="61976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CD936A5-4AE1-86DD-5537-2649E4C2A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67" y="965200"/>
            <a:ext cx="10354733" cy="694267"/>
          </a:xfrm>
          <a:prstGeom prst="rect">
            <a:avLst/>
          </a:prstGeom>
        </p:spPr>
      </p:pic>
      <p:grpSp>
        <p:nvGrpSpPr>
          <p:cNvPr id="6" name="Group 6">
            <a:extLst>
              <a:ext uri="{FF2B5EF4-FFF2-40B4-BE49-F238E27FC236}">
                <a16:creationId xmlns:a16="http://schemas.microsoft.com/office/drawing/2014/main" id="{9F030243-18BC-0E47-D6C4-D99BABAC1280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7" name="Picture 7">
            <a:extLst>
              <a:ext uri="{FF2B5EF4-FFF2-40B4-BE49-F238E27FC236}">
                <a16:creationId xmlns:a16="http://schemas.microsoft.com/office/drawing/2014/main" id="{302ABDE7-7298-AFC0-B2FA-23D488DD8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152400"/>
            <a:ext cx="127000" cy="414867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EB296ABE-5B90-AD2F-E1F5-BE410B2A5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667" y="152400"/>
            <a:ext cx="127000" cy="41486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BC43367F-2F98-6EFD-3486-6621677AA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133" y="152400"/>
            <a:ext cx="127000" cy="414867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3EFE9E05-2E2F-D641-EDE1-D1C8D0366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600" y="152400"/>
            <a:ext cx="127000" cy="414867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B19051CE-BE5E-66A6-0466-7FF746358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067" y="152400"/>
            <a:ext cx="127000" cy="414867"/>
          </a:xfrm>
          <a:prstGeom prst="rect">
            <a:avLst/>
          </a:prstGeom>
        </p:spPr>
      </p:pic>
      <p:grpSp>
        <p:nvGrpSpPr>
          <p:cNvPr id="12" name="Group 12">
            <a:extLst>
              <a:ext uri="{FF2B5EF4-FFF2-40B4-BE49-F238E27FC236}">
                <a16:creationId xmlns:a16="http://schemas.microsoft.com/office/drawing/2014/main" id="{3CACD5F0-D3F4-CDA3-6EFB-3691CB34EAAE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3" name="Picture 13">
            <a:extLst>
              <a:ext uri="{FF2B5EF4-FFF2-40B4-BE49-F238E27FC236}">
                <a16:creationId xmlns:a16="http://schemas.microsoft.com/office/drawing/2014/main" id="{C2734B17-DC8D-AA67-70AB-2F1B7AB85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933" y="152400"/>
            <a:ext cx="127000" cy="414867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AD82706E-0262-8164-843D-B58B03EBF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400" y="152400"/>
            <a:ext cx="127000" cy="414867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487B8E2A-A1BD-E854-A413-E73BE6B09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867" y="152400"/>
            <a:ext cx="127000" cy="414867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F4CBEEA1-0764-8285-B2EA-CAE603CCF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6333" y="152400"/>
            <a:ext cx="127000" cy="414867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09E1EDF6-47D0-0FA5-117E-EC8F0F5BC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152400"/>
            <a:ext cx="127000" cy="414867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D8FD3E4D-2996-24D2-4D9F-91FC8B2CDE5F}"/>
              </a:ext>
            </a:extLst>
          </p:cNvPr>
          <p:cNvSpPr txBox="1"/>
          <p:nvPr/>
        </p:nvSpPr>
        <p:spPr>
          <a:xfrm>
            <a:off x="922867" y="2057400"/>
            <a:ext cx="9939867" cy="360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r>
              <a:rPr lang="ko-KR" altLang="en-US" sz="2400" b="1" dirty="0"/>
              <a:t>기대 효과</a:t>
            </a:r>
            <a:endParaRPr lang="en-US" altLang="ko-KR" sz="2400" b="1" dirty="0"/>
          </a:p>
          <a:p>
            <a:endParaRPr lang="ko-KR" alt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자취생의 누수 문제 대응 시간 단축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/>
              <a:t>집주인과의 소통 효율 향상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AI </a:t>
            </a:r>
            <a:r>
              <a:rPr lang="ko-KR" altLang="en-US" sz="2400" dirty="0"/>
              <a:t>기술의 실생활 활용 사례 제시</a:t>
            </a:r>
          </a:p>
          <a:p>
            <a:pPr>
              <a:lnSpc>
                <a:spcPct val="141100"/>
              </a:lnSpc>
            </a:pPr>
            <a:r>
              <a:rPr lang="ko-KR" altLang="en-US" sz="2133" spc="-67" dirty="0">
                <a:solidFill>
                  <a:srgbClr val="373737"/>
                </a:solidFill>
                <a:latin typeface="Noto Sans CJK KR DemiLight"/>
              </a:rPr>
              <a:t> </a:t>
            </a:r>
            <a:endParaRPr lang="en-US" altLang="ko-KR" sz="2133" spc="-67" dirty="0">
              <a:solidFill>
                <a:srgbClr val="373737"/>
              </a:solidFill>
              <a:latin typeface="Noto Sans CJK KR DemiLight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81F9BE04-CFF4-55A6-2677-DA7735DAA82B}"/>
              </a:ext>
            </a:extLst>
          </p:cNvPr>
          <p:cNvSpPr txBox="1"/>
          <p:nvPr/>
        </p:nvSpPr>
        <p:spPr>
          <a:xfrm>
            <a:off x="2463800" y="1058333"/>
            <a:ext cx="7857067" cy="5672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200" dirty="0">
                <a:solidFill>
                  <a:srgbClr val="373737"/>
                </a:solidFill>
                <a:ea typeface="paybooc Bold"/>
              </a:rPr>
              <a:t>기대 효과</a:t>
            </a:r>
            <a:r>
              <a:rPr lang="en-US" altLang="ko-KR" sz="3200" dirty="0">
                <a:solidFill>
                  <a:srgbClr val="373737"/>
                </a:solidFill>
                <a:ea typeface="paybooc Bold"/>
              </a:rPr>
              <a:t>.</a:t>
            </a:r>
            <a:endParaRPr lang="ko-KR" altLang="en-US" sz="3200" dirty="0">
              <a:solidFill>
                <a:srgbClr val="373737"/>
              </a:solidFill>
              <a:ea typeface="paybooc 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297210B-9437-2543-6158-EC426F59234B}"/>
              </a:ext>
            </a:extLst>
          </p:cNvPr>
          <p:cNvSpPr txBox="1"/>
          <p:nvPr/>
        </p:nvSpPr>
        <p:spPr>
          <a:xfrm>
            <a:off x="1041400" y="1092200"/>
            <a:ext cx="524933" cy="44873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33" dirty="0">
                <a:solidFill>
                  <a:srgbClr val="FFFFFF"/>
                </a:solidFill>
                <a:latin typeface="paybooc ExtraBol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61563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F28B8-BEB7-D10E-8070-AFAB75ECA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475F0AA-2CD0-3DFB-C342-3EB109661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00" y="359833"/>
            <a:ext cx="11260667" cy="6197600"/>
          </a:xfrm>
          <a:prstGeom prst="rect">
            <a:avLst/>
          </a:prstGeom>
        </p:spPr>
      </p:pic>
      <p:grpSp>
        <p:nvGrpSpPr>
          <p:cNvPr id="6" name="Group 6">
            <a:extLst>
              <a:ext uri="{FF2B5EF4-FFF2-40B4-BE49-F238E27FC236}">
                <a16:creationId xmlns:a16="http://schemas.microsoft.com/office/drawing/2014/main" id="{0EE5C696-F7F2-D34B-6BB1-4A8D7C0ACE07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7" name="Picture 7">
            <a:extLst>
              <a:ext uri="{FF2B5EF4-FFF2-40B4-BE49-F238E27FC236}">
                <a16:creationId xmlns:a16="http://schemas.microsoft.com/office/drawing/2014/main" id="{F32B055E-59D9-1316-A684-53C80B3A7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152400"/>
            <a:ext cx="127000" cy="414867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7441B000-AFAB-10FE-6819-2461A891D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667" y="152400"/>
            <a:ext cx="127000" cy="414867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0D86E36C-A9B1-2257-3609-B90C53D09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133" y="152400"/>
            <a:ext cx="127000" cy="414867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2E1502DE-600F-28A9-6AD9-C78B31671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00" y="152400"/>
            <a:ext cx="127000" cy="414867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0828BDE9-5C0F-424A-7275-C50461277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067" y="152400"/>
            <a:ext cx="127000" cy="414867"/>
          </a:xfrm>
          <a:prstGeom prst="rect">
            <a:avLst/>
          </a:prstGeom>
        </p:spPr>
      </p:pic>
      <p:grpSp>
        <p:nvGrpSpPr>
          <p:cNvPr id="12" name="Group 12">
            <a:extLst>
              <a:ext uri="{FF2B5EF4-FFF2-40B4-BE49-F238E27FC236}">
                <a16:creationId xmlns:a16="http://schemas.microsoft.com/office/drawing/2014/main" id="{775C2CBE-7D3B-F186-882F-8EC619332185}"/>
              </a:ext>
            </a:extLst>
          </p:cNvPr>
          <p:cNvGrpSpPr/>
          <p:nvPr/>
        </p:nvGrpSpPr>
        <p:grpSpPr>
          <a:xfrm>
            <a:off x="1431655765" y="1431655765"/>
            <a:ext cx="1431655765" cy="1431655765"/>
            <a:chOff x="1431655765" y="1431655765"/>
            <a:chExt cx="1431655765" cy="1431655765"/>
          </a:xfrm>
        </p:grpSpPr>
      </p:grpSp>
      <p:pic>
        <p:nvPicPr>
          <p:cNvPr id="13" name="Picture 13">
            <a:extLst>
              <a:ext uri="{FF2B5EF4-FFF2-40B4-BE49-F238E27FC236}">
                <a16:creationId xmlns:a16="http://schemas.microsoft.com/office/drawing/2014/main" id="{0E7B46A2-A8EA-FA87-588A-43E3B2B9A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933" y="152400"/>
            <a:ext cx="127000" cy="414867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8F97B7AC-D9DF-4E8C-17EF-81BAFFAB9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400" y="152400"/>
            <a:ext cx="127000" cy="414867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D03BAC2D-2A77-0A8D-B5E0-7D32F157A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867" y="152400"/>
            <a:ext cx="127000" cy="414867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217FB43B-4EEE-E26B-944D-47B4C5640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6333" y="152400"/>
            <a:ext cx="127000" cy="414867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DEFE0291-15F7-3ED9-940B-7E090BF5C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52400"/>
            <a:ext cx="127000" cy="414867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75390D57-629C-F0D3-0104-5656E8DDF622}"/>
              </a:ext>
            </a:extLst>
          </p:cNvPr>
          <p:cNvSpPr txBox="1"/>
          <p:nvPr/>
        </p:nvSpPr>
        <p:spPr>
          <a:xfrm>
            <a:off x="922867" y="2057400"/>
            <a:ext cx="9939867" cy="360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41100"/>
              </a:lnSpc>
            </a:pPr>
            <a:r>
              <a:rPr lang="ko-KR" altLang="en-US" sz="2133" spc="-67" dirty="0">
                <a:solidFill>
                  <a:srgbClr val="373737"/>
                </a:solidFill>
                <a:latin typeface="Noto Sans CJK KR DemiLight"/>
              </a:rPr>
              <a:t>감사합니다</a:t>
            </a:r>
            <a:r>
              <a:rPr lang="en-US" altLang="ko-KR" sz="2133" spc="-67" dirty="0">
                <a:solidFill>
                  <a:srgbClr val="373737"/>
                </a:solidFill>
                <a:latin typeface="Noto Sans CJK KR DemiLight"/>
              </a:rPr>
              <a:t>.</a:t>
            </a:r>
            <a:r>
              <a:rPr lang="ko-KR" altLang="en-US" sz="2133" spc="-67" dirty="0">
                <a:solidFill>
                  <a:srgbClr val="373737"/>
                </a:solidFill>
                <a:latin typeface="Noto Sans CJK KR DemiLight"/>
              </a:rPr>
              <a:t> </a:t>
            </a:r>
            <a:endParaRPr lang="en-US" altLang="ko-KR" sz="2133" spc="-67" dirty="0">
              <a:solidFill>
                <a:srgbClr val="373737"/>
              </a:solidFill>
              <a:latin typeface="Noto Sans CJK KR DemiLight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584120E-83E3-1FFE-CF3B-E1AF9D437F94}"/>
              </a:ext>
            </a:extLst>
          </p:cNvPr>
          <p:cNvSpPr txBox="1"/>
          <p:nvPr/>
        </p:nvSpPr>
        <p:spPr>
          <a:xfrm>
            <a:off x="2463800" y="1058333"/>
            <a:ext cx="7857067" cy="56726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endParaRPr lang="ko-KR" altLang="en-US" sz="3200" dirty="0">
              <a:solidFill>
                <a:srgbClr val="373737"/>
              </a:solidFill>
              <a:ea typeface="paybooc 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5AF65DD-D27E-0792-D896-79275C543286}"/>
              </a:ext>
            </a:extLst>
          </p:cNvPr>
          <p:cNvSpPr txBox="1"/>
          <p:nvPr/>
        </p:nvSpPr>
        <p:spPr>
          <a:xfrm>
            <a:off x="1041400" y="1092200"/>
            <a:ext cx="524933" cy="448733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533" dirty="0">
                <a:solidFill>
                  <a:srgbClr val="FFFFFF"/>
                </a:solidFill>
                <a:latin typeface="paybooc ExtraBold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29599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210</Words>
  <Application>Microsoft Office PowerPoint</Application>
  <PresentationFormat>와이드스크린</PresentationFormat>
  <Paragraphs>58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Noto Sans CJK KR DemiLight</vt:lpstr>
      <vt:lpstr>paybooc Bold</vt:lpstr>
      <vt:lpstr>paybooc ExtraBold</vt:lpstr>
      <vt:lpstr>paybooc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민성 김</dc:creator>
  <cp:lastModifiedBy>민성 김</cp:lastModifiedBy>
  <cp:revision>2</cp:revision>
  <dcterms:created xsi:type="dcterms:W3CDTF">2025-11-18T05:38:49Z</dcterms:created>
  <dcterms:modified xsi:type="dcterms:W3CDTF">2025-12-16T21:57:46Z</dcterms:modified>
</cp:coreProperties>
</file>